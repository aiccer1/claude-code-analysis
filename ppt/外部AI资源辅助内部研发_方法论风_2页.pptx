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</a:rPr>
              <a:t>外部 AI 资源辅助内部研发：方法拆解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两页版 / 方法论风：强调工具链、职责分层与交付物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4526280"/>
          </a:xfrm>
          <a:prstGeom prst="roundRect">
            <a:avLst/>
          </a:prstGeom>
          <a:solidFill>
            <a:srgbClr val="E1ECF8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49240" cy="4526280"/>
          </a:xfrm>
          <a:prstGeom prst="round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48463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05493"/>
                </a:solidFill>
              </a:rPr>
              <a:t>外网职责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工具：Codex、Claude Code、OpenClaw + Exa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任务：最新技术洞察、论文/文档检索、竞品/开源仓分析、demo 级快速实现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产出：实现思路、迁移方案、参考代码、外部代码仓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特点：更适合做探索、验证、拆解、生成初版方案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36192"/>
            <a:ext cx="48463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7846"/>
                </a:solidFill>
              </a:rPr>
              <a:t>内网职责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工具：公司内网模型与内部开发环境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任务：下载外部产物、继续实现、与内部项目集成、联调与沉淀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产出：内部可维护代码、与业务系统适配的实现、研发资产沉淀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特点：更适合做正式开发、项目集成与安全可控的交付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5715000"/>
            <a:ext cx="38862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5788152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12529"/>
                </a:solidFill>
              </a:rPr>
              <a:t>方法核心：外部探索 + 内部落地 + 单向数据流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06424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外部 AI 资源辅助内部研发流程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12529"/>
                </a:solidFill>
              </a:rPr>
              <a:t>端到端流程与交付物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B7280"/>
                </a:solidFill>
              </a:rPr>
              <a:t>方法论风：强调每一阶段的输入、动作与产出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1051560"/>
          </a:xfrm>
          <a:prstGeom prst="roundRect">
            <a:avLst/>
          </a:prstGeom>
          <a:solidFill>
            <a:srgbClr val="E1ECF8"/>
          </a:solidFill>
          <a:ln>
            <a:solidFill>
              <a:srgbClr val="205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508760"/>
            <a:ext cx="1819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05493"/>
                </a:solidFill>
              </a:rPr>
              <a:t>输入</a:t>
            </a:r>
          </a:p>
          <a:p>
            <a:pPr algn="ctr"/>
            <a:r>
              <a:rPr sz="1050">
                <a:solidFill>
                  <a:srgbClr val="212529"/>
                </a:solidFill>
              </a:rPr>
              <a:t>研发问题
技术目标
验证需求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417320"/>
            <a:ext cx="1965960" cy="1051560"/>
          </a:xfrm>
          <a:prstGeom prst="roundRect">
            <a:avLst/>
          </a:prstGeom>
          <a:solidFill>
            <a:srgbClr val="FCEFD5"/>
          </a:solidFill>
          <a:ln>
            <a:solidFill>
              <a:srgbClr val="C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70632" y="1508760"/>
            <a:ext cx="1819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46E00"/>
                </a:solidFill>
              </a:rPr>
              <a:t>探索</a:t>
            </a:r>
          </a:p>
          <a:p>
            <a:pPr algn="ctr"/>
            <a:r>
              <a:rPr sz="1050">
                <a:solidFill>
                  <a:srgbClr val="212529"/>
                </a:solidFill>
              </a:rPr>
              <a:t>检索论文 / 文档
分析外部仓库
形成理解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417320"/>
            <a:ext cx="1965960" cy="1051560"/>
          </a:xfrm>
          <a:prstGeom prst="roundRect">
            <a:avLst/>
          </a:prstGeom>
          <a:solidFill>
            <a:srgbClr val="E6F4EA"/>
          </a:solidFill>
          <a:ln>
            <a:solidFill>
              <a:srgbClr val="1E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508760"/>
            <a:ext cx="1819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7846"/>
                </a:solidFill>
              </a:rPr>
              <a:t>验证</a:t>
            </a:r>
          </a:p>
          <a:p>
            <a:pPr algn="ctr"/>
            <a:r>
              <a:rPr sz="1050">
                <a:solidFill>
                  <a:srgbClr val="212529"/>
                </a:solidFill>
              </a:rPr>
              <a:t>快速 demo
功能原型
特性试验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417320"/>
            <a:ext cx="1965960" cy="1051560"/>
          </a:xfrm>
          <a:prstGeom prst="roundRect">
            <a:avLst/>
          </a:prstGeom>
          <a:solidFill>
            <a:srgbClr val="E1ECF8"/>
          </a:solidFill>
          <a:ln>
            <a:solidFill>
              <a:srgbClr val="205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9752" y="1508760"/>
            <a:ext cx="1819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05493"/>
                </a:solidFill>
              </a:rPr>
              <a:t>沉淀</a:t>
            </a:r>
          </a:p>
          <a:p>
            <a:pPr algn="ctr"/>
            <a:r>
              <a:rPr sz="1050">
                <a:solidFill>
                  <a:srgbClr val="212529"/>
                </a:solidFill>
              </a:rPr>
              <a:t>方案文档
迁移说明
GitHub 仓库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417320"/>
            <a:ext cx="1965960" cy="1051560"/>
          </a:xfrm>
          <a:prstGeom prst="roundRect">
            <a:avLst/>
          </a:prstGeom>
          <a:solidFill>
            <a:srgbClr val="E6F4EA"/>
          </a:solidFill>
          <a:ln>
            <a:solidFill>
              <a:srgbClr val="1E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2" y="1508760"/>
            <a:ext cx="18196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7846"/>
                </a:solidFill>
              </a:rPr>
              <a:t>承接</a:t>
            </a:r>
          </a:p>
          <a:p>
            <a:pPr algn="ctr"/>
            <a:r>
              <a:rPr sz="1050">
                <a:solidFill>
                  <a:srgbClr val="212529"/>
                </a:solidFill>
              </a:rPr>
              <a:t>内网下载
内部模型继续开发
项目集成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1943100.0"/>
            <a:ext cx="22860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1943100.0"/>
            <a:ext cx="22860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1943100.0"/>
            <a:ext cx="22860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2560" y="1943100.0"/>
            <a:ext cx="228600" cy="0.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3703320"/>
            <a:ext cx="10972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515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12529"/>
                </a:solidFill>
              </a:rPr>
              <a:t>交付物与边界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外网输出的交付物可以是：技术洞察、方案报告、参考实现、可继续开发的代码仓。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内网承接的是外部公开信息和产出物，不传递内部敏感数据到外网环境。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整个方法的关键不是“直接把外部代码搬进内网”，而是“外部高效探索、内部安全落地”。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064240" cy="18288"/>
          </a:xfrm>
          <a:prstGeom prst="rect">
            <a:avLst/>
          </a:prstGeom>
          <a:solidFill>
            <a:srgbClr val="E1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B7280"/>
                </a:solidFill>
              </a:rPr>
              <a:t>外部 AI 资源辅助内部研发流程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