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12529"/>
                </a:solidFill>
              </a:rPr>
              <a:t>外部 AI 资源辅助内部研发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B7280"/>
                </a:solidFill>
              </a:rPr>
              <a:t>两页版 / 汇报风：强调价值、流程与信息安全边界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3703320" cy="2880360"/>
          </a:xfrm>
          <a:prstGeom prst="roundRect">
            <a:avLst/>
          </a:prstGeom>
          <a:solidFill>
            <a:srgbClr val="E1ECF8"/>
          </a:solidFill>
          <a:ln>
            <a:solidFill>
              <a:srgbClr val="E1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344168"/>
            <a:ext cx="3474720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05493"/>
                </a:solidFill>
              </a:rPr>
              <a:t>外网阶段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使用 Codex、Claude Code 进行新技术 / 新功能 / 新特性的 demo 级快速验证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使用 OpenClaw + Exa 检索最新论文、产品文档、开源仓库与实现案例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自动完成代码仓创建、推送、外部仓库分析拆解、模块提炼与方案沉淀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输出实现细节、迁移方案与参考代码仓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234440"/>
            <a:ext cx="3703320" cy="2880360"/>
          </a:xfrm>
          <a:prstGeom prst="roundRect">
            <a:avLst/>
          </a:prstGeom>
          <a:solidFill>
            <a:srgbClr val="E6F4EA"/>
          </a:solidFill>
          <a:ln>
            <a:solidFill>
              <a:srgbClr val="E6F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1344168"/>
            <a:ext cx="3474720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E7846"/>
                </a:solidFill>
              </a:rPr>
              <a:t>内网阶段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下载外部阶段产出的代码仓与资料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由内网模型继续开发与代码生成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结合内部项目进行集成、联调与落地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形成内部可维护、可持续演进的实现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234440"/>
            <a:ext cx="3291840" cy="2880360"/>
          </a:xfrm>
          <a:prstGeom prst="roundRect">
            <a:avLst/>
          </a:prstGeom>
          <a:solidFill>
            <a:srgbClr val="FCEFD5"/>
          </a:solidFill>
          <a:ln>
            <a:solidFill>
              <a:srgbClr val="FCE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85632" y="1344168"/>
            <a:ext cx="3063240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C46E00"/>
                </a:solidFill>
              </a:rPr>
              <a:t>核心价值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缩短新技术验证周期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降低前期调研和方案探索成本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把外部探索转化为内部研发加速器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保证数据单向流动，兼顾效率与安全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572000"/>
            <a:ext cx="2468880" cy="1097280"/>
          </a:xfrm>
          <a:prstGeom prst="roundRect">
            <a:avLst/>
          </a:prstGeom>
          <a:solidFill>
            <a:srgbClr val="E1ECF8"/>
          </a:solidFill>
          <a:ln>
            <a:solidFill>
              <a:srgbClr val="E1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4700016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7280"/>
                </a:solidFill>
              </a:rPr>
              <a:t>定位</a:t>
            </a:r>
          </a:p>
          <a:p>
            <a:r>
              <a:rPr sz="2000" b="1">
                <a:solidFill>
                  <a:srgbClr val="212529"/>
                </a:solidFill>
              </a:rPr>
              <a:t>外探内用</a:t>
            </a:r>
          </a:p>
          <a:p>
            <a:r>
              <a:rPr sz="950">
                <a:solidFill>
                  <a:srgbClr val="212529"/>
                </a:solidFill>
              </a:rPr>
              <a:t>外网负责探索验证，内网负责正式开发与集成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4572000"/>
            <a:ext cx="2468880" cy="1097280"/>
          </a:xfrm>
          <a:prstGeom prst="roundRect">
            <a:avLst/>
          </a:prstGeom>
          <a:solidFill>
            <a:srgbClr val="E6F4EA"/>
          </a:solidFill>
          <a:ln>
            <a:solidFill>
              <a:srgbClr val="E6F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9584" y="4700016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7280"/>
                </a:solidFill>
              </a:rPr>
              <a:t>数据方向</a:t>
            </a:r>
          </a:p>
          <a:p>
            <a:r>
              <a:rPr sz="2000" b="1">
                <a:solidFill>
                  <a:srgbClr val="212529"/>
                </a:solidFill>
              </a:rPr>
              <a:t>外 → 内</a:t>
            </a:r>
          </a:p>
          <a:p>
            <a:r>
              <a:rPr sz="950">
                <a:solidFill>
                  <a:srgbClr val="212529"/>
                </a:solidFill>
              </a:rPr>
              <a:t>信息只从外部进入内部，避免敏感数据外流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4572000"/>
            <a:ext cx="2468880" cy="1097280"/>
          </a:xfrm>
          <a:prstGeom prst="roundRect">
            <a:avLst/>
          </a:prstGeom>
          <a:solidFill>
            <a:srgbClr val="FCEFD5"/>
          </a:solidFill>
          <a:ln>
            <a:solidFill>
              <a:srgbClr val="FCE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4" y="4700016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7280"/>
                </a:solidFill>
              </a:rPr>
              <a:t>交付物</a:t>
            </a:r>
          </a:p>
          <a:p>
            <a:r>
              <a:rPr sz="2000" b="1">
                <a:solidFill>
                  <a:srgbClr val="212529"/>
                </a:solidFill>
              </a:rPr>
              <a:t>方案 + 代码仓</a:t>
            </a:r>
          </a:p>
          <a:p>
            <a:r>
              <a:rPr sz="950">
                <a:solidFill>
                  <a:srgbClr val="212529"/>
                </a:solidFill>
              </a:rPr>
              <a:t>不仅有调研结论，也有可继续开发的代码基础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4572000"/>
            <a:ext cx="2103120" cy="1097280"/>
          </a:xfrm>
          <a:prstGeom prst="roundRect">
            <a:avLst/>
          </a:prstGeom>
          <a:solidFill>
            <a:srgbClr val="FBE8E8"/>
          </a:solidFill>
          <a:ln>
            <a:solidFill>
              <a:srgbClr val="FB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4700016"/>
            <a:ext cx="1920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7280"/>
                </a:solidFill>
              </a:rPr>
              <a:t>目标</a:t>
            </a:r>
          </a:p>
          <a:p>
            <a:r>
              <a:rPr sz="2000" b="1">
                <a:solidFill>
                  <a:srgbClr val="212529"/>
                </a:solidFill>
              </a:rPr>
              <a:t>研发加速</a:t>
            </a:r>
          </a:p>
          <a:p>
            <a:r>
              <a:rPr sz="950">
                <a:solidFill>
                  <a:srgbClr val="212529"/>
                </a:solidFill>
              </a:rPr>
              <a:t>服务内部研发团队快速落地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446520"/>
            <a:ext cx="11064240" cy="18288"/>
          </a:xfrm>
          <a:prstGeom prst="rect">
            <a:avLst/>
          </a:prstGeom>
          <a:solidFill>
            <a:srgbClr val="E1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49224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外部 AI 资源辅助内部研发流程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12529"/>
                </a:solidFill>
              </a:rPr>
              <a:t>流程图与信息安全边界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B7280"/>
                </a:solidFill>
              </a:rPr>
              <a:t>汇报风：流程清晰、边界明确、适合直接讲解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1828800" cy="1097280"/>
          </a:xfrm>
          <a:prstGeom prst="roundRect">
            <a:avLst/>
          </a:prstGeom>
          <a:solidFill>
            <a:srgbClr val="205493"/>
          </a:solidFill>
          <a:ln>
            <a:solidFill>
              <a:srgbClr val="2054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901952"/>
            <a:ext cx="1645920" cy="9509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需求输入</a:t>
            </a:r>
          </a:p>
          <a:p>
            <a:pPr algn="ctr"/>
            <a:r>
              <a:rPr sz="950">
                <a:solidFill>
                  <a:srgbClr val="FFFFFF"/>
                </a:solidFill>
              </a:rPr>
              <a:t>新技术
新功能
新特性验证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06040" y="1828800"/>
            <a:ext cx="1828800" cy="1097280"/>
          </a:xfrm>
          <a:prstGeom prst="roundRect">
            <a:avLst/>
          </a:prstGeom>
          <a:solidFill>
            <a:srgbClr val="C46E00"/>
          </a:solidFill>
          <a:ln>
            <a:solidFill>
              <a:srgbClr val="C4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97480" y="1901952"/>
            <a:ext cx="1645920" cy="9509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外网探索</a:t>
            </a:r>
          </a:p>
          <a:p>
            <a:pPr algn="ctr"/>
            <a:r>
              <a:rPr sz="950">
                <a:solidFill>
                  <a:srgbClr val="FFFFFF"/>
                </a:solidFill>
              </a:rPr>
              <a:t>Codex / Claude Code
OpenClaw + Exa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1828800"/>
            <a:ext cx="1828800" cy="1097280"/>
          </a:xfrm>
          <a:prstGeom prst="roundRect">
            <a:avLst/>
          </a:prstGeom>
          <a:solidFill>
            <a:srgbClr val="1E7846"/>
          </a:solidFill>
          <a:ln>
            <a:solidFill>
              <a:srgbClr val="1E7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1901952"/>
            <a:ext cx="1645920" cy="9509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形成产出</a:t>
            </a:r>
          </a:p>
          <a:p>
            <a:pPr algn="ctr"/>
            <a:r>
              <a:rPr sz="950">
                <a:solidFill>
                  <a:srgbClr val="FFFFFF"/>
                </a:solidFill>
              </a:rPr>
              <a:t>论文 / 文档 / 仓库分析
Demo / 方案 / 参考代码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0" y="1828800"/>
            <a:ext cx="1828800" cy="1097280"/>
          </a:xfrm>
          <a:prstGeom prst="roundRect">
            <a:avLst/>
          </a:prstGeom>
          <a:solidFill>
            <a:srgbClr val="205493"/>
          </a:solidFill>
          <a:ln>
            <a:solidFill>
              <a:srgbClr val="2054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1901952"/>
            <a:ext cx="1645920" cy="9509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内网承接</a:t>
            </a:r>
          </a:p>
          <a:p>
            <a:pPr algn="ctr"/>
            <a:r>
              <a:rPr sz="950">
                <a:solidFill>
                  <a:srgbClr val="FFFFFF"/>
                </a:solidFill>
              </a:rPr>
              <a:t>下载代码仓与方案
内部模型继续开发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5400" y="1828800"/>
            <a:ext cx="1828800" cy="1097280"/>
          </a:xfrm>
          <a:prstGeom prst="roundRect">
            <a:avLst/>
          </a:prstGeom>
          <a:solidFill>
            <a:srgbClr val="1E7846"/>
          </a:solidFill>
          <a:ln>
            <a:solidFill>
              <a:srgbClr val="1E7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40" y="1901952"/>
            <a:ext cx="1645920" cy="9509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项目集成</a:t>
            </a:r>
          </a:p>
          <a:p>
            <a:pPr algn="ctr"/>
            <a:r>
              <a:rPr sz="950">
                <a:solidFill>
                  <a:srgbClr val="FFFFFF"/>
                </a:solidFill>
              </a:rPr>
              <a:t>接入内部项目
联调 / 测试 / 落地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2377440.0"/>
            <a:ext cx="274320" cy="0.0"/>
          </a:xfrm>
          <a:prstGeom prst="line">
            <a:avLst/>
          </a:prstGeom>
          <a:ln w="222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434840" y="2377440.0"/>
            <a:ext cx="274320" cy="0.0"/>
          </a:xfrm>
          <a:prstGeom prst="line">
            <a:avLst/>
          </a:prstGeom>
          <a:ln w="222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537960" y="2377440.0"/>
            <a:ext cx="274320" cy="0.0"/>
          </a:xfrm>
          <a:prstGeom prst="line">
            <a:avLst/>
          </a:prstGeom>
          <a:ln w="222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641080" y="2377440.0"/>
            <a:ext cx="274320" cy="0.0"/>
          </a:xfrm>
          <a:prstGeom prst="line">
            <a:avLst/>
          </a:prstGeom>
          <a:ln w="222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40080" y="3886200"/>
            <a:ext cx="10972800" cy="1508760"/>
          </a:xfrm>
          <a:prstGeom prst="roundRect">
            <a:avLst/>
          </a:prstGeom>
          <a:solidFill>
            <a:srgbClr val="FBE8E8"/>
          </a:solidFill>
          <a:ln>
            <a:solidFill>
              <a:srgbClr val="FB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0690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A03030"/>
                </a:solidFill>
              </a:rPr>
              <a:t>信息安全边界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外网环境：用于技术洞察、公开资料检索、代码仓分析与 demo 级验证，不引入内部敏感数据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内网环境：用于正式开发、与内部项目集成、代码沉淀与交付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数据方向保持为“外 → 内”，避免内部信息向外部模型或外部环境回流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446520"/>
            <a:ext cx="11064240" cy="18288"/>
          </a:xfrm>
          <a:prstGeom prst="rect">
            <a:avLst/>
          </a:prstGeom>
          <a:solidFill>
            <a:srgbClr val="E1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49224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外部 AI 资源辅助内部研发流程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